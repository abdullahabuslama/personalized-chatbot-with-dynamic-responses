
<file path=[Content_Types].xml><?xml version="1.0" encoding="utf-8"?>
<Types xmlns="http://schemas.openxmlformats.org/package/2006/content-types">
  <Default Extension="png" ContentType="image/png"/>
  <Default Extension="webp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71" r:id="rId6"/>
    <p:sldId id="272" r:id="rId7"/>
    <p:sldId id="275" r:id="rId8"/>
    <p:sldId id="278" r:id="rId9"/>
    <p:sldId id="279" r:id="rId10"/>
    <p:sldId id="280" r:id="rId11"/>
    <p:sldId id="273" r:id="rId12"/>
    <p:sldId id="276" r:id="rId13"/>
    <p:sldId id="277" r:id="rId14"/>
    <p:sldId id="274" r:id="rId15"/>
    <p:sldId id="259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aggle.com/datasets/ilyasfaruqui208/medicine-datasets-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-527143" y="1089012"/>
            <a:ext cx="54738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b="1" dirty="0"/>
              <a:t>DEPI Round Three AI &amp; Data Science Track</a:t>
            </a: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728F9E-7D56-4EEB-B9DD-E454CBBF4397}"/>
              </a:ext>
            </a:extLst>
          </p:cNvPr>
          <p:cNvSpPr txBox="1"/>
          <p:nvPr/>
        </p:nvSpPr>
        <p:spPr>
          <a:xfrm>
            <a:off x="2372871" y="1892141"/>
            <a:ext cx="8144758" cy="9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sz="1800" b="1" dirty="0"/>
              <a:t>Med-RAG System: AI-powered Medical Information Retrieval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br>
              <a:rPr lang="en-US" sz="1800" dirty="0"/>
            </a:br>
            <a:r>
              <a:rPr lang="en-US" sz="1800" i="1" dirty="0"/>
              <a:t>Using Retrieval-Augmented Generation (RAG) on 200k+ Medicine Dataset</a:t>
            </a:r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99C49-51E0-428A-B533-7AC6097474EB}"/>
              </a:ext>
            </a:extLst>
          </p:cNvPr>
          <p:cNvSpPr/>
          <p:nvPr/>
        </p:nvSpPr>
        <p:spPr>
          <a:xfrm>
            <a:off x="2514600" y="3293998"/>
            <a:ext cx="6096000" cy="255146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dirty="0">
                <a:solidFill>
                  <a:srgbClr val="0D0D0D"/>
                </a:solidFill>
              </a:rPr>
              <a:t>Presenters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sz="1800" dirty="0">
                <a:solidFill>
                  <a:srgbClr val="0D0D0D"/>
                </a:solidFill>
              </a:rPr>
              <a:t>Mohamed Hossam 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sz="1800" dirty="0">
                <a:solidFill>
                  <a:srgbClr val="0D0D0D"/>
                </a:solidFill>
              </a:rPr>
              <a:t>Ahmed </a:t>
            </a:r>
            <a:r>
              <a:rPr lang="en-US" sz="1800" dirty="0" err="1">
                <a:solidFill>
                  <a:srgbClr val="0D0D0D"/>
                </a:solidFill>
              </a:rPr>
              <a:t>Elbadry</a:t>
            </a:r>
            <a:endParaRPr lang="en-US" sz="1800" dirty="0">
              <a:solidFill>
                <a:srgbClr val="0D0D0D"/>
              </a:solidFill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sz="1800" dirty="0">
                <a:solidFill>
                  <a:srgbClr val="0D0D0D"/>
                </a:solidFill>
              </a:rPr>
              <a:t>Abdallah </a:t>
            </a:r>
            <a:r>
              <a:rPr lang="en-US" sz="1800" dirty="0" err="1">
                <a:solidFill>
                  <a:srgbClr val="0D0D0D"/>
                </a:solidFill>
              </a:rPr>
              <a:t>Abusalma</a:t>
            </a:r>
            <a:endParaRPr lang="en-US" sz="1800" dirty="0">
              <a:solidFill>
                <a:srgbClr val="0D0D0D"/>
              </a:solidFill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r>
              <a:rPr lang="en-US" sz="1800" dirty="0">
                <a:solidFill>
                  <a:srgbClr val="0D0D0D"/>
                </a:solidFill>
              </a:rPr>
              <a:t>Ibrahim Waz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</a:pPr>
            <a:endParaRPr lang="en-US" sz="1800" dirty="0">
              <a:solidFill>
                <a:srgbClr val="0D0D0D"/>
              </a:solidFill>
            </a:endParaRPr>
          </a:p>
          <a:p>
            <a:pPr marL="228600" lvl="0" indent="-228600" algn="ctr">
              <a:lnSpc>
                <a:spcPct val="90000"/>
              </a:lnSpc>
              <a:spcBef>
                <a:spcPts val="1000"/>
              </a:spcBef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0D0D0D"/>
                </a:solidFill>
              </a:rPr>
              <a:t>Date: 15/12/2025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975307-1B17-4DF0-ADDD-1454B10C6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989" y="1197204"/>
            <a:ext cx="10617724" cy="4673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Problem Statement: Addressing Medical Information Challenges</a:t>
            </a:r>
          </a:p>
          <a:p>
            <a:pPr algn="just"/>
            <a:r>
              <a:rPr lang="en-US" dirty="0"/>
              <a:t>       The core challenge in the healthcare sector is the immediate and accurate access to critical medication information for both doctors and patients. Professionals and individuals frequently require </a:t>
            </a:r>
            <a:r>
              <a:rPr lang="en-US" b="1" dirty="0"/>
              <a:t>fast answers</a:t>
            </a:r>
            <a:r>
              <a:rPr lang="en-US" dirty="0"/>
              <a:t> to questions regarding a drug's </a:t>
            </a:r>
            <a:r>
              <a:rPr lang="en-US" b="1" dirty="0"/>
              <a:t>manufacturer company</a:t>
            </a:r>
            <a:r>
              <a:rPr lang="en-US" dirty="0"/>
              <a:t>, its </a:t>
            </a:r>
            <a:r>
              <a:rPr lang="en-US" b="1" dirty="0"/>
              <a:t>ingredients</a:t>
            </a:r>
            <a:r>
              <a:rPr lang="en-US" dirty="0"/>
              <a:t>, and crucial </a:t>
            </a:r>
            <a:r>
              <a:rPr lang="en-US" b="1" dirty="0"/>
              <a:t>side effects</a:t>
            </a:r>
            <a:r>
              <a:rPr lang="en-US" dirty="0"/>
              <a:t>, in addition to potential </a:t>
            </a:r>
            <a:r>
              <a:rPr lang="en-US" b="1" dirty="0"/>
              <a:t>alternatives or equivalent drugs</a:t>
            </a:r>
            <a:r>
              <a:rPr lang="en-US" dirty="0"/>
              <a:t>. Traditional methods, such as searching through static search results on Google or fragmented PDF documentation, are often insufficient because they provide </a:t>
            </a:r>
            <a:r>
              <a:rPr lang="en-US" b="1" dirty="0"/>
              <a:t>fragmented data</a:t>
            </a:r>
            <a:r>
              <a:rPr lang="en-US" dirty="0"/>
              <a:t> and lack the </a:t>
            </a:r>
            <a:r>
              <a:rPr lang="en-US" b="1" dirty="0"/>
              <a:t>contextual reasoning</a:t>
            </a:r>
            <a:r>
              <a:rPr lang="en-US" dirty="0"/>
              <a:t> necessary to synthesize a complete and reliable answer. This gap highlights the need for a modern, intelligent system capable of overcoming these limitations and providing synthesized, trustworthy medical responses instantly.</a:t>
            </a:r>
          </a:p>
          <a:p>
            <a:pPr algn="just"/>
            <a:endParaRPr lang="en-US" b="1" dirty="0"/>
          </a:p>
          <a:p>
            <a:r>
              <a:rPr lang="en-US" b="1" dirty="0"/>
              <a:t>Proposed Solution: RAG architecture</a:t>
            </a:r>
            <a:r>
              <a:rPr lang="en-US" dirty="0"/>
              <a:t> → retrieve trusted drug data → generate high-quality, grounded answers.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3F403-9CA6-4E77-88EE-90A09D99BB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8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C1C64-DC3A-4C48-B430-37C056B1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747" y="990388"/>
            <a:ext cx="9144000" cy="15131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What is RAG?</a:t>
            </a:r>
            <a:br>
              <a:rPr lang="en-US" sz="3600" b="1" dirty="0"/>
            </a:br>
            <a:br>
              <a:rPr lang="en-US" sz="1600" b="1" dirty="0"/>
            </a:br>
            <a:r>
              <a:rPr lang="en-US" sz="1600" b="1" dirty="0"/>
              <a:t>Retrieval–Augmented Generation</a:t>
            </a:r>
            <a:r>
              <a:rPr lang="en-US" sz="1600" dirty="0"/>
              <a:t> = </a:t>
            </a:r>
            <a:r>
              <a:rPr lang="en-US" sz="1600" b="1" dirty="0"/>
              <a:t>LLM + Search over knowledge base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4D099-3510-4266-A9D6-3EB6E4440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85412-D66B-452F-AACD-D418B36B5E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0A34B7-D285-4FDC-8AD7-E56D3FA0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" y="2290712"/>
            <a:ext cx="11698664" cy="395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BBA3-EF96-4221-9875-8FDCDD942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06" y="698157"/>
            <a:ext cx="9144000" cy="555608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 Foundation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AD6FE-8B24-4AA3-9BAE-45D7ED518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7971"/>
            <a:ext cx="9144000" cy="357982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Source:</a:t>
            </a:r>
            <a:r>
              <a:rPr lang="en-US" dirty="0"/>
              <a:t> Kaggle — </a:t>
            </a:r>
            <a:r>
              <a:rPr lang="en-US" i="1" dirty="0"/>
              <a:t>Medicine Datasets </a:t>
            </a:r>
            <a:r>
              <a:rPr lang="en-US" dirty="0">
                <a:hlinkClick r:id="rId2"/>
              </a:rPr>
              <a:t>https://kaggle.com/datasets/ilyasfaruqui208/medicine-datasets-</a:t>
            </a:r>
            <a:endParaRPr lang="en-US" dirty="0"/>
          </a:p>
          <a:p>
            <a:pPr algn="l"/>
            <a:r>
              <a:rPr lang="en-US" b="1" dirty="0"/>
              <a:t>Key Specs: </a:t>
            </a:r>
          </a:p>
          <a:p>
            <a:pPr algn="l"/>
            <a:r>
              <a:rPr lang="en-US" b="1" dirty="0"/>
              <a:t>200,000+ unique medicines</a:t>
            </a:r>
            <a:endParaRPr lang="en-US" dirty="0"/>
          </a:p>
          <a:p>
            <a:pPr algn="l"/>
            <a:r>
              <a:rPr lang="en-US" b="1" dirty="0"/>
              <a:t>8 Feature Columns</a:t>
            </a:r>
          </a:p>
          <a:p>
            <a:pPr algn="l"/>
            <a:br>
              <a:rPr lang="en-US" sz="1700" dirty="0"/>
            </a:br>
            <a:r>
              <a:rPr lang="en-US" sz="1700" dirty="0"/>
              <a:t>Typical columns include:</a:t>
            </a:r>
          </a:p>
          <a:p>
            <a:pPr algn="l"/>
            <a:r>
              <a:rPr lang="en-US" sz="2600" dirty="0"/>
              <a:t>Drug Name  - Sub Category – Manufacturer -  Composition </a:t>
            </a:r>
          </a:p>
          <a:p>
            <a:pPr algn="l"/>
            <a:r>
              <a:rPr lang="en-US" sz="2600" dirty="0"/>
              <a:t>Drug Description - Side Effects – Price - Drug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C4948-2B57-49AF-81BC-EE877146D8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3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615B-7027-43AB-9923-04C138505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65035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System Architecture (High-Level)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F097E-A80E-4927-8187-5B508E76AA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76B68-17F7-4999-BE60-4C2CC68A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1" y="1772239"/>
            <a:ext cx="10840824" cy="432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16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B7823-C27A-4862-879D-5C5AC8736A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548047-C4BE-421F-AFBF-CE7A6C0F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47" y="1366887"/>
            <a:ext cx="10774838" cy="473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8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EC85-8460-4F97-B8E5-D61A2E5AA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904" y="594462"/>
            <a:ext cx="9144000" cy="631023"/>
          </a:xfrm>
        </p:spPr>
        <p:txBody>
          <a:bodyPr>
            <a:normAutofit/>
          </a:bodyPr>
          <a:lstStyle/>
          <a:p>
            <a:r>
              <a:rPr lang="en-US" sz="2800" b="1" dirty="0"/>
              <a:t>Main Technologies Used in the Medicine RAG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087BF-BC0A-4121-B137-663C8B7EF4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FC7EF9-471A-4D63-AA09-385B0BC55BB2}"/>
              </a:ext>
            </a:extLst>
          </p:cNvPr>
          <p:cNvSpPr/>
          <p:nvPr/>
        </p:nvSpPr>
        <p:spPr>
          <a:xfrm>
            <a:off x="406251" y="1700836"/>
            <a:ext cx="10410222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6000"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Retrieval-Augmented Generation (RAG) System: Technology Stack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CDB838-38F5-449B-8ECC-800BFF664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917341"/>
              </p:ext>
            </p:extLst>
          </p:nvPr>
        </p:nvGraphicFramePr>
        <p:xfrm>
          <a:off x="1375527" y="2180967"/>
          <a:ext cx="10515600" cy="337479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79815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82111410"/>
                    </a:ext>
                  </a:extLst>
                </a:gridCol>
              </a:tblGrid>
              <a:tr h="843699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RAG Component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Technologies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940049"/>
                  </a:ext>
                </a:extLst>
              </a:tr>
              <a:tr h="843699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Ingestion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Unstructured, pandas, pypdf, sentence-transformers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766704"/>
                  </a:ext>
                </a:extLst>
              </a:tr>
              <a:tr h="843699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Core RAG Engine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fr-F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chromadb, faiss-cpu, transformers, groq/ollama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861319"/>
                  </a:ext>
                </a:extLst>
              </a:tr>
              <a:tr h="843699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Deployment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fastapi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uvicorn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559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958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621B-2A15-42F1-89B3-0954F7B84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876" y="1122363"/>
            <a:ext cx="6593263" cy="477837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2- Data Processing &amp; Preparation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6F307-01E5-4A68-A6D3-7AA9A917B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AE3377-DB86-46FF-A76E-503858B79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390408"/>
              </p:ext>
            </p:extLst>
          </p:nvPr>
        </p:nvGraphicFramePr>
        <p:xfrm>
          <a:off x="377072" y="1753385"/>
          <a:ext cx="11340444" cy="4242060"/>
        </p:xfrm>
        <a:graphic>
          <a:graphicData uri="http://schemas.openxmlformats.org/drawingml/2006/table">
            <a:tbl>
              <a:tblPr/>
              <a:tblGrid>
                <a:gridCol w="3780148">
                  <a:extLst>
                    <a:ext uri="{9D8B030D-6E8A-4147-A177-3AD203B41FA5}">
                      <a16:colId xmlns:a16="http://schemas.microsoft.com/office/drawing/2014/main" val="3551467548"/>
                    </a:ext>
                  </a:extLst>
                </a:gridCol>
                <a:gridCol w="3780148">
                  <a:extLst>
                    <a:ext uri="{9D8B030D-6E8A-4147-A177-3AD203B41FA5}">
                      <a16:colId xmlns:a16="http://schemas.microsoft.com/office/drawing/2014/main" val="287549928"/>
                    </a:ext>
                  </a:extLst>
                </a:gridCol>
                <a:gridCol w="3780148">
                  <a:extLst>
                    <a:ext uri="{9D8B030D-6E8A-4147-A177-3AD203B41FA5}">
                      <a16:colId xmlns:a16="http://schemas.microsoft.com/office/drawing/2014/main" val="3574850871"/>
                    </a:ext>
                  </a:extLst>
                </a:gridCol>
              </a:tblGrid>
              <a:tr h="590666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Technologies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Function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599029"/>
                  </a:ext>
                </a:extLst>
              </a:tr>
              <a:tr h="966546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File Ingestion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unstructured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pdfplumber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pypdf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beautifulsoup4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Extract text from various file formats (PDFs, HTML, etc.).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277535"/>
                  </a:ext>
                </a:extLst>
              </a:tr>
              <a:tr h="1342424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Cleaning &amp; Prep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pandas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numpy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regex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manipulation, cleaning (e.g., removing noise, handling missing values), and structuring the Kaggle dataset.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645088"/>
                  </a:ext>
                </a:extLst>
              </a:tr>
              <a:tr h="1342424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Chunking / Data Split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langchain-text-splitters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langchain-core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Divide long medical documents into smaller, semantically meaningful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chunks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for efficient retrieval.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142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54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4EBD-F4CD-4892-8A69-0FBD60B3B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930" y="1265835"/>
            <a:ext cx="9144000" cy="668730"/>
          </a:xfrm>
        </p:spPr>
        <p:txBody>
          <a:bodyPr>
            <a:normAutofit/>
          </a:bodyPr>
          <a:lstStyle/>
          <a:p>
            <a:pPr algn="l">
              <a:buFont typeface="Arial"/>
            </a:pPr>
            <a:r>
              <a:rPr lang="en-US" sz="2800" b="1" dirty="0">
                <a:sym typeface="Arial"/>
              </a:rPr>
              <a:t>3- Vectorization, Storage, &amp; LLM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CC57C-A3D0-498C-8B65-8FC286D239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453D5B-E6C0-4D2D-BB9B-5B18984B2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534759"/>
              </p:ext>
            </p:extLst>
          </p:nvPr>
        </p:nvGraphicFramePr>
        <p:xfrm>
          <a:off x="373930" y="2224725"/>
          <a:ext cx="10979871" cy="3808429"/>
        </p:xfrm>
        <a:graphic>
          <a:graphicData uri="http://schemas.openxmlformats.org/drawingml/2006/table">
            <a:tbl>
              <a:tblPr/>
              <a:tblGrid>
                <a:gridCol w="3659957">
                  <a:extLst>
                    <a:ext uri="{9D8B030D-6E8A-4147-A177-3AD203B41FA5}">
                      <a16:colId xmlns:a16="http://schemas.microsoft.com/office/drawing/2014/main" val="3734212785"/>
                    </a:ext>
                  </a:extLst>
                </a:gridCol>
                <a:gridCol w="3659957">
                  <a:extLst>
                    <a:ext uri="{9D8B030D-6E8A-4147-A177-3AD203B41FA5}">
                      <a16:colId xmlns:a16="http://schemas.microsoft.com/office/drawing/2014/main" val="3572052635"/>
                    </a:ext>
                  </a:extLst>
                </a:gridCol>
                <a:gridCol w="3659957">
                  <a:extLst>
                    <a:ext uri="{9D8B030D-6E8A-4147-A177-3AD203B41FA5}">
                      <a16:colId xmlns:a16="http://schemas.microsoft.com/office/drawing/2014/main" val="1736958373"/>
                    </a:ext>
                  </a:extLst>
                </a:gridCol>
              </a:tblGrid>
              <a:tr h="45046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Technologies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Function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191217"/>
                  </a:ext>
                </a:extLst>
              </a:tr>
              <a:tr h="102377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Embedding Generation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sentence-transformers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transformers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huggingface-hub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Convert text chunks and user queries into high-dimensional numerical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vector embeddings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that capture semantic meaning.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661565"/>
                  </a:ext>
                </a:extLst>
              </a:tr>
              <a:tr h="1310427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Vector Storage &amp; Retrieval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chromadb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faiss-cpu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langchain-chroma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Store and index millions of vector embeddings. Perform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 similarity search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(Nearest Neighbor) to retrieve the most relevant context.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191700"/>
                  </a:ext>
                </a:extLst>
              </a:tr>
              <a:tr h="1023771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LLM Engine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ollama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langchain-ollama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groq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langchain-groq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Generative Core: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Takes the user query and the retrieved context to synthesize the final, fluent, and accurate medical answer.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248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414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6DFA-3F8F-43AA-A44F-B7328718E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478" y="1178924"/>
            <a:ext cx="9144000" cy="706437"/>
          </a:xfrm>
        </p:spPr>
        <p:txBody>
          <a:bodyPr/>
          <a:lstStyle/>
          <a:p>
            <a:pPr algn="l"/>
            <a:r>
              <a:rPr lang="en-US" sz="2800" b="1" dirty="0"/>
              <a:t>4- System Deployment &amp;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9C657-748D-4A6F-A05B-38F98F8F5B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5BEAC7-6DF3-45D1-AC51-C7F5C4370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7040"/>
              </p:ext>
            </p:extLst>
          </p:nvPr>
        </p:nvGraphicFramePr>
        <p:xfrm>
          <a:off x="838199" y="2370614"/>
          <a:ext cx="10917024" cy="3653114"/>
        </p:xfrm>
        <a:graphic>
          <a:graphicData uri="http://schemas.openxmlformats.org/drawingml/2006/table">
            <a:tbl>
              <a:tblPr/>
              <a:tblGrid>
                <a:gridCol w="3639008">
                  <a:extLst>
                    <a:ext uri="{9D8B030D-6E8A-4147-A177-3AD203B41FA5}">
                      <a16:colId xmlns:a16="http://schemas.microsoft.com/office/drawing/2014/main" val="2447459633"/>
                    </a:ext>
                  </a:extLst>
                </a:gridCol>
                <a:gridCol w="3639008">
                  <a:extLst>
                    <a:ext uri="{9D8B030D-6E8A-4147-A177-3AD203B41FA5}">
                      <a16:colId xmlns:a16="http://schemas.microsoft.com/office/drawing/2014/main" val="1238074534"/>
                    </a:ext>
                  </a:extLst>
                </a:gridCol>
                <a:gridCol w="3639008">
                  <a:extLst>
                    <a:ext uri="{9D8B030D-6E8A-4147-A177-3AD203B41FA5}">
                      <a16:colId xmlns:a16="http://schemas.microsoft.com/office/drawing/2014/main" val="3958621694"/>
                    </a:ext>
                  </a:extLst>
                </a:gridCol>
              </a:tblGrid>
              <a:tr h="401843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Technologies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Function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9208456"/>
                  </a:ext>
                </a:extLst>
              </a:tr>
              <a:tr h="1168996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API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fastapi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uvicorn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Create a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high-speed, asynchronous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API endpoint for user queries. FastAPI provides the structure; Uvicorn is the ASGI server that runs it.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676138"/>
                  </a:ext>
                </a:extLst>
              </a:tr>
              <a:tr h="913279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Tokenization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tiktoken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Efficiently manage and count tokens (words/sub-words) for the LLM prompts to control cost and avoid exceeding context limits.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1580762"/>
                  </a:ext>
                </a:extLst>
              </a:tr>
              <a:tr h="1168996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Acceleration / Runtime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accelerate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torch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onnxruntime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Libraries used for optimizing the performance of the large models (LLM and Embeddings) using techniques like quantization and GPU offloading.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198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31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C56E-EEF4-4D44-9B3D-0A97EDA48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130" y="761788"/>
            <a:ext cx="5429840" cy="838412"/>
          </a:xfrm>
        </p:spPr>
        <p:txBody>
          <a:bodyPr>
            <a:normAutofit fontScale="90000"/>
          </a:bodyPr>
          <a:lstStyle/>
          <a:p>
            <a:r>
              <a:rPr lang="en-US" dirty="0"/>
              <a:t>Output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95007-3421-471E-A92C-B4E3C8094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4C687D-31B0-48B5-86D4-1EE4AF58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" y="1600200"/>
            <a:ext cx="11104776" cy="461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04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62240D-899C-411C-B7A1-CEBCCE3675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7396E-7DFA-45CD-BD48-A35843C1DC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55D27-ACF0-4582-BD74-A2062FA73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0" y="1140644"/>
            <a:ext cx="11528981" cy="507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4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F516B8-B285-43D1-AD28-9FC7DFFF7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FF919-EC3E-438C-B485-82887380E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8CFBF-D0F0-4F2C-A35B-313D33CA4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2" y="1234911"/>
            <a:ext cx="11359300" cy="472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4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339F0-C8AB-4919-B75A-5F1B313847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BDD1D-D08A-467A-B404-FDDDB80F9CBF}"/>
              </a:ext>
            </a:extLst>
          </p:cNvPr>
          <p:cNvSpPr/>
          <p:nvPr/>
        </p:nvSpPr>
        <p:spPr>
          <a:xfrm>
            <a:off x="1913641" y="871277"/>
            <a:ext cx="62216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/>
              <a:t>Future Enhancements</a:t>
            </a:r>
            <a:endParaRPr lang="en-US" sz="4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767F7-7817-46FC-84A7-EC0E23964008}"/>
              </a:ext>
            </a:extLst>
          </p:cNvPr>
          <p:cNvSpPr/>
          <p:nvPr/>
        </p:nvSpPr>
        <p:spPr>
          <a:xfrm>
            <a:off x="970960" y="1859771"/>
            <a:ext cx="810705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Multi-language support (Arabic / English).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Local Drugs Database.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Doctor-only extended knowledge (dosage, interactions).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User authentication.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Chat history memory.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Clinical trials integration.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Regulatory compliance (EU MDR, HIPAA, FDA).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964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38199" y="3032671"/>
            <a:ext cx="10382435" cy="161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 sz="5400" dirty="0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EF23E53-BC50-EAD2-E1C7-F84DDAAA679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645</Words>
  <Application>Microsoft Office PowerPoint</Application>
  <PresentationFormat>Widescreen</PresentationFormat>
  <Paragraphs>106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Google Sans Text</vt:lpstr>
      <vt:lpstr>Arial</vt:lpstr>
      <vt:lpstr>Office Theme</vt:lpstr>
      <vt:lpstr>PowerPoint Presentation</vt:lpstr>
      <vt:lpstr>PowerPoint Presentation</vt:lpstr>
      <vt:lpstr>What is RAG?  Retrieval–Augmented Generation = LLM + Search over knowledge base </vt:lpstr>
      <vt:lpstr>Dataset Foundation</vt:lpstr>
      <vt:lpstr>System Architecture (High-Level)</vt:lpstr>
      <vt:lpstr>PowerPoint Presentation</vt:lpstr>
      <vt:lpstr>Main Technologies Used in the Medicine RAG System</vt:lpstr>
      <vt:lpstr>2- Data Processing &amp; Preparation</vt:lpstr>
      <vt:lpstr>3- Vectorization, Storage, &amp; LLM</vt:lpstr>
      <vt:lpstr>4- System Deployment &amp; Performance</vt:lpstr>
      <vt:lpstr>Output Example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Ibrahim Rashad</cp:lastModifiedBy>
  <cp:revision>10</cp:revision>
  <dcterms:created xsi:type="dcterms:W3CDTF">2024-03-14T10:03:54Z</dcterms:created>
  <dcterms:modified xsi:type="dcterms:W3CDTF">2025-11-30T18:40:21Z</dcterms:modified>
</cp:coreProperties>
</file>